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69" r:id="rId7"/>
    <p:sldId id="271" r:id="rId8"/>
    <p:sldId id="272" r:id="rId9"/>
    <p:sldId id="273" r:id="rId10"/>
    <p:sldId id="274" r:id="rId11"/>
    <p:sldId id="276" r:id="rId12"/>
    <p:sldId id="277" r:id="rId13"/>
    <p:sldId id="268" r:id="rId14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5DE6A4-2018-4631-BB66-696A5B4CE214}" v="46" dt="2025-08-22T10:26:45.9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71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8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IMPLEMENTATION OF PLM TEAMCENTER IN THE Automotive Industry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Aryan Singh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2210994768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Swati Goel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-1436192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C8330E6-2924-CA78-DF1D-AEFA78699B3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0" y="919395"/>
            <a:ext cx="8951976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Complex Automotive Production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Automotive manufacturing involves thousands of components, materials, and advanced systems that require seamless integration across various departments.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Global Supply Chain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With a global network of suppliers, manufacturers, and partners, automotive companies face significant challenges in managing collaboration and maintaining quality.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Regulatory Compliance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Automotive companies must adhere to strict regulatory standards (e.g., safety, environmental, and quality regulations) throughout the product lifecycle.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Challenges with Traditional Methods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Traditional systems often struggle with data silos, inefficiencies, and escalating costs, which can hinder innovation and timely decision-making.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 of PLM Systems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Product Lifecycle Management (PLM) tools like Siemens Teamcenter provide a unified digital platform that connects all aspects of the product lifecycle, from design and development to manufacturing and service.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8C0AB11-4281-F8B8-5D42-8EADCDC07AE9}"/>
              </a:ext>
            </a:extLst>
          </p:cNvPr>
          <p:cNvSpPr txBox="1"/>
          <p:nvPr/>
        </p:nvSpPr>
        <p:spPr>
          <a:xfrm>
            <a:off x="174395" y="113122"/>
            <a:ext cx="57786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Context &amp; Challenges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788E15-084C-8FB0-6E4A-CBFCD6230FB1}"/>
              </a:ext>
            </a:extLst>
          </p:cNvPr>
          <p:cNvSpPr txBox="1"/>
          <p:nvPr/>
        </p:nvSpPr>
        <p:spPr>
          <a:xfrm>
            <a:off x="174394" y="844995"/>
            <a:ext cx="872271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Why Automotive is different? </a:t>
            </a:r>
          </a:p>
          <a:p>
            <a:endParaRPr lang="en-US" sz="1600" b="1" dirty="0"/>
          </a:p>
          <a:p>
            <a:r>
              <a:rPr lang="en-US" sz="1600" b="1" dirty="0"/>
              <a:t>Complex Integration Across Systems</a:t>
            </a:r>
            <a:r>
              <a:rPr lang="en-US" sz="1600" dirty="0"/>
              <a:t>: Automotive products involve diverse engineering domains, including mechanical, electrical, software, and materials, which require seamless integration across each discipline.</a:t>
            </a:r>
          </a:p>
          <a:p>
            <a:endParaRPr lang="en-US" sz="1600" dirty="0"/>
          </a:p>
          <a:p>
            <a:r>
              <a:rPr lang="en-US" sz="1600" b="1" dirty="0"/>
              <a:t>Strict Regulatory Compliance</a:t>
            </a:r>
            <a:r>
              <a:rPr lang="en-US" sz="1600" dirty="0"/>
              <a:t>: Automakers must meet various standards, including safety (e.g., crash tests, emissions), environmental regulations, and global certification requirements, driving rigorous documentation and audit trails.</a:t>
            </a:r>
          </a:p>
          <a:p>
            <a:endParaRPr lang="en-US" sz="1600" dirty="0"/>
          </a:p>
          <a:p>
            <a:r>
              <a:rPr lang="en-US" sz="1600" b="1" dirty="0"/>
              <a:t>Long Product Lifecycles</a:t>
            </a:r>
            <a:r>
              <a:rPr lang="en-US" sz="1600" dirty="0"/>
              <a:t>: Vehicles have long lifespans, with ongoing maintenance, upgrades, and parts replacement needed, which require precise tracking of product configurations and warranties.</a:t>
            </a:r>
          </a:p>
          <a:p>
            <a:endParaRPr lang="en-US" sz="1600" dirty="0"/>
          </a:p>
          <a:p>
            <a:r>
              <a:rPr lang="en-US" sz="1600" b="1" dirty="0"/>
              <a:t>Cost, Schedule, and Safety Pressure</a:t>
            </a:r>
            <a:r>
              <a:rPr lang="en-US" sz="1600" dirty="0"/>
              <a:t>: Automotive manufacturing faces high pressure to balance costs, meet tight production schedules, and ensure safety standards, all while driving innovation and performance improvements.</a:t>
            </a:r>
          </a:p>
          <a:p>
            <a:pPr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891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4374B-0C15-728A-1BEA-F9DAB03F0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402" y="0"/>
            <a:ext cx="5486040" cy="914040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PLM Delivers in Automotive Industry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C81960-7935-4D25-318B-CAB56DF49A61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32258" y="1150070"/>
            <a:ext cx="8555558" cy="4702090"/>
          </a:xfrm>
        </p:spPr>
        <p:txBody>
          <a:bodyPr/>
          <a:lstStyle/>
          <a:p>
            <a:r>
              <a:rPr lang="en-US" sz="1600" b="1" dirty="0"/>
              <a:t>From Design to Manufacturing: PLM in Automotive</a:t>
            </a:r>
          </a:p>
          <a:p>
            <a:endParaRPr lang="en-US" sz="1600" dirty="0"/>
          </a:p>
          <a:p>
            <a:r>
              <a:rPr lang="en-US" sz="1600" b="1" dirty="0"/>
              <a:t>Unified Product Backbone</a:t>
            </a:r>
            <a:r>
              <a:rPr lang="en-US" sz="1600" dirty="0"/>
              <a:t>: Store all critical product data, including parts, BOMs, CAD models, documents, test reports, and change records in a single system, providing one reliable source of truth across the lifecycle.</a:t>
            </a:r>
          </a:p>
          <a:p>
            <a:endParaRPr lang="en-US" sz="1600" dirty="0"/>
          </a:p>
          <a:p>
            <a:r>
              <a:rPr lang="en-US" sz="1600" b="1" dirty="0"/>
              <a:t>Configuration Control</a:t>
            </a:r>
            <a:r>
              <a:rPr lang="en-US" sz="1600" dirty="0"/>
              <a:t>: Track and manage parts and systems by serial number, lot, date, or specific vehicle model to ensure version control and accuracy in assembly and service.</a:t>
            </a:r>
          </a:p>
          <a:p>
            <a:endParaRPr lang="en-US" sz="1600" dirty="0"/>
          </a:p>
          <a:p>
            <a:r>
              <a:rPr lang="en-US" sz="1600" b="1" dirty="0"/>
              <a:t>Model-Based Definition (MBD)</a:t>
            </a:r>
            <a:r>
              <a:rPr lang="en-US" sz="1600" dirty="0"/>
              <a:t>: Use 3D models and Product Manufacturing Information (PMI) as the primary source of truth, reducing errors associated with traditional drawings and improving the clarity of designs.</a:t>
            </a:r>
          </a:p>
          <a:p>
            <a:endParaRPr lang="en-US" sz="1600" dirty="0"/>
          </a:p>
          <a:p>
            <a:r>
              <a:rPr lang="en-US" sz="1600" b="1" dirty="0"/>
              <a:t>Systems Engineering Integration (MBSE)</a:t>
            </a:r>
            <a:r>
              <a:rPr lang="en-US" sz="1600" dirty="0"/>
              <a:t>: Link system architecture (</a:t>
            </a:r>
            <a:r>
              <a:rPr lang="en-US" sz="1600" dirty="0" err="1"/>
              <a:t>SysML</a:t>
            </a:r>
            <a:r>
              <a:rPr lang="en-US" sz="1600" dirty="0"/>
              <a:t>) with detailed design data, ensuring that all requirements are seamlessly integrated into the engineering Bill of Materials (BOMs).</a:t>
            </a:r>
          </a:p>
          <a:p>
            <a:endParaRPr lang="en-US" sz="1600" dirty="0"/>
          </a:p>
          <a:p>
            <a:r>
              <a:rPr lang="en-US" sz="1600" b="1" dirty="0"/>
              <a:t>Secure Collaboration</a:t>
            </a:r>
            <a:r>
              <a:rPr lang="en-US" sz="1600" dirty="0"/>
              <a:t>: Enable secure, controlled data sharing across OEMs, suppliers, and certification authorities. PLM workflows facilitate approval processes and ensure that all stakeholders are aligned on design and manufacturing requirements.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109846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78548-49B1-1DAC-EA17-1420D9060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122" y="0"/>
            <a:ext cx="5486040" cy="914040"/>
          </a:xfrm>
        </p:spPr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Framework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F57C9B-8F07-3300-3FCA-6F4A9EB00D2D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13122" y="831521"/>
            <a:ext cx="8543198" cy="5406719"/>
          </a:xfrm>
        </p:spPr>
        <p:txBody>
          <a:bodyPr/>
          <a:lstStyle/>
          <a:p>
            <a:r>
              <a:rPr lang="en-US" sz="1600" b="1" dirty="0"/>
              <a:t>1. Strategic Planning and Goal Setting</a:t>
            </a:r>
          </a:p>
          <a:p>
            <a:r>
              <a:rPr lang="en-US" sz="1600" b="1" dirty="0"/>
              <a:t>Define Objectives</a:t>
            </a:r>
            <a:r>
              <a:rPr lang="en-US" sz="1600" dirty="0"/>
              <a:t>: Understand what the company wants to achieve with PLM (e.g., improve collaboration, reduce time-to-market, ensure compliance).</a:t>
            </a:r>
          </a:p>
          <a:p>
            <a:endParaRPr lang="en-US" sz="1600" dirty="0"/>
          </a:p>
          <a:p>
            <a:r>
              <a:rPr lang="en-US" sz="1600" b="1" dirty="0"/>
              <a:t>Align with Business Goals</a:t>
            </a:r>
            <a:r>
              <a:rPr lang="en-US" sz="1600" dirty="0"/>
              <a:t>: Ensure that PLM supports broader business goals, such as innovation, cost reduction, and improving product quality.</a:t>
            </a:r>
          </a:p>
          <a:p>
            <a:endParaRPr lang="en-US" sz="1600" dirty="0"/>
          </a:p>
          <a:p>
            <a:r>
              <a:rPr lang="en-US" sz="1600" b="1" dirty="0"/>
              <a:t>Stakeholder Involvement</a:t>
            </a:r>
            <a:r>
              <a:rPr lang="en-US" sz="1600" dirty="0"/>
              <a:t>: Involve key stakeholders (engineering, IT, suppliers, and regulatory teams) in defining goals and requirements for PLM.</a:t>
            </a:r>
          </a:p>
          <a:p>
            <a:endParaRPr lang="en-US" sz="1600" dirty="0"/>
          </a:p>
          <a:p>
            <a:r>
              <a:rPr lang="en-US" sz="1600" b="1" dirty="0"/>
              <a:t>2. Requirements Gathering</a:t>
            </a:r>
          </a:p>
          <a:p>
            <a:r>
              <a:rPr lang="en-US" sz="1600" b="1" dirty="0"/>
              <a:t>Product Lifecycle Mapping</a:t>
            </a:r>
            <a:r>
              <a:rPr lang="en-US" sz="1600" dirty="0"/>
              <a:t>: Understand the end-to-end lifecycle of the product, including design, prototyping, testing, production, and post-production (maintenance, service).</a:t>
            </a:r>
          </a:p>
          <a:p>
            <a:endParaRPr lang="en-US" sz="1600" dirty="0"/>
          </a:p>
          <a:p>
            <a:r>
              <a:rPr lang="en-US" sz="1600" b="1" dirty="0"/>
              <a:t>Process and Data Flow</a:t>
            </a:r>
            <a:r>
              <a:rPr lang="en-US" sz="1600" dirty="0"/>
              <a:t>: Identify and document current processes, tools, and data flows within the company and supply chain.</a:t>
            </a:r>
          </a:p>
          <a:p>
            <a:endParaRPr lang="en-US" sz="1600" dirty="0"/>
          </a:p>
          <a:p>
            <a:r>
              <a:rPr lang="en-US" sz="1600" b="1" dirty="0"/>
              <a:t>3. PLM Solution Selection</a:t>
            </a:r>
          </a:p>
          <a:p>
            <a:endParaRPr lang="en-US" sz="1600" b="1" dirty="0"/>
          </a:p>
          <a:p>
            <a:r>
              <a:rPr lang="en-US" sz="1600" b="1" dirty="0"/>
              <a:t>Customization vs. Out-of-the-box</a:t>
            </a:r>
            <a:r>
              <a:rPr lang="en-US" sz="1600" dirty="0"/>
              <a:t>: Decide whether to use a pre-configured system or customize based on company-specific needs (e.g., specific regulatory requirements or integration with legacy systems).</a:t>
            </a:r>
          </a:p>
          <a:p>
            <a:endParaRPr lang="en-US" sz="1600" dirty="0"/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940070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17EA5-5EC9-DDBF-396B-ACE7C039D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68" y="-65988"/>
            <a:ext cx="5486040" cy="914040"/>
          </a:xfrm>
        </p:spPr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Technologies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7321050-BEA3-9BF3-1187-F4A618E2EB8A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94268" y="1831868"/>
            <a:ext cx="69462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-&gt;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36F89C-8D7F-8B35-E784-6776B906D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68" y="1023098"/>
            <a:ext cx="8054052" cy="4811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970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E1904-2085-7726-1E29-BB0288C9D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29" y="0"/>
            <a:ext cx="5486040" cy="914040"/>
          </a:xfrm>
        </p:spPr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Improvements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05335E1-6909-9FAF-1B27-7756D69672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4759"/>
            <a:ext cx="91440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Design Cycle Time</a:t>
            </a:r>
            <a:br>
              <a:rPr lang="en-US" dirty="0"/>
            </a:br>
            <a:r>
              <a:rPr lang="en-US" dirty="0"/>
              <a:t>Implementation of PLM in automotive has achieved a </a:t>
            </a:r>
            <a:r>
              <a:rPr lang="en-US" b="1" dirty="0"/>
              <a:t>25–35% reduction</a:t>
            </a:r>
            <a:r>
              <a:rPr lang="en-US" dirty="0"/>
              <a:t>, enabling faster concept-to-prototype-to-production transitions.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b="1" dirty="0"/>
              <a:t>Engineering Changes</a:t>
            </a:r>
            <a:br>
              <a:rPr lang="en-US" dirty="0"/>
            </a:br>
            <a:r>
              <a:rPr lang="en-US" dirty="0"/>
              <a:t>Processing time for design and engineering changes is now </a:t>
            </a:r>
            <a:r>
              <a:rPr lang="en-US" b="1" dirty="0"/>
              <a:t>40–50% faster</a:t>
            </a:r>
            <a:r>
              <a:rPr lang="en-US" dirty="0"/>
              <a:t>, reducing rework and supporting rapid model updates.</a:t>
            </a:r>
          </a:p>
          <a:p>
            <a:endParaRPr lang="en-US" dirty="0"/>
          </a:p>
          <a:p>
            <a:r>
              <a:rPr lang="en-US" b="1" dirty="0"/>
              <a:t>Supplier Collaboration</a:t>
            </a:r>
            <a:br>
              <a:rPr lang="en-US" dirty="0"/>
            </a:br>
            <a:r>
              <a:rPr lang="en-US" dirty="0"/>
              <a:t>Enhanced integration with Tier-1 and Tier-2 suppliers improves concurrent engineering, leading to </a:t>
            </a:r>
            <a:r>
              <a:rPr lang="en-US" b="1" dirty="0"/>
              <a:t>shorter lead times</a:t>
            </a:r>
            <a:r>
              <a:rPr lang="en-US" dirty="0"/>
              <a:t> and higher quality.</a:t>
            </a:r>
          </a:p>
          <a:p>
            <a:endParaRPr lang="en-US" b="1" dirty="0"/>
          </a:p>
          <a:p>
            <a:r>
              <a:rPr lang="en-US" b="1" dirty="0"/>
              <a:t>Product Quality &amp; Compliance</a:t>
            </a:r>
            <a:br>
              <a:rPr lang="en-US" dirty="0"/>
            </a:br>
            <a:r>
              <a:rPr lang="en-US" dirty="0"/>
              <a:t>PLM ensures real-time quality checks and regulatory compliance, reducing </a:t>
            </a:r>
            <a:r>
              <a:rPr lang="en-US" b="1" dirty="0"/>
              <a:t>defect rates</a:t>
            </a:r>
            <a:r>
              <a:rPr lang="en-US" dirty="0"/>
              <a:t> and warranty costs.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510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AC2EC-2D1F-9464-2745-96F009707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255" y="0"/>
            <a:ext cx="5486040" cy="914040"/>
          </a:xfrm>
        </p:spPr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99D8D56-23DB-30C5-71A7-8D099FCA2242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78658" y="851345"/>
            <a:ext cx="8811342" cy="3831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/>
              <a:t>AI for Predictive Maintenance</a:t>
            </a:r>
            <a:br>
              <a:rPr lang="en-US" sz="1800" dirty="0"/>
            </a:br>
            <a:r>
              <a:rPr lang="en-US" sz="1800" dirty="0"/>
              <a:t>Artificial Intelligence helps predict failures in vehicles before they occur, reducing downtime and warranty costs.</a:t>
            </a:r>
          </a:p>
          <a:p>
            <a:endParaRPr lang="en-US" sz="1800" dirty="0"/>
          </a:p>
          <a:p>
            <a:r>
              <a:rPr lang="en-US" sz="1800" b="1" dirty="0"/>
              <a:t>IoT for Connected Vehicles</a:t>
            </a:r>
            <a:br>
              <a:rPr lang="en-US" sz="1800" dirty="0"/>
            </a:br>
            <a:r>
              <a:rPr lang="en-US" sz="1800" dirty="0"/>
              <a:t>Sensors in cars send real-time performance data, enabling remote diagnostics, over-the-air updates, and improved driver safety.</a:t>
            </a:r>
          </a:p>
          <a:p>
            <a:endParaRPr lang="en-US" sz="1800" b="1" dirty="0"/>
          </a:p>
          <a:p>
            <a:r>
              <a:rPr lang="en-US" sz="1800" b="1" dirty="0"/>
              <a:t>Digital Twin of Vehicles</a:t>
            </a:r>
            <a:br>
              <a:rPr lang="en-US" sz="1800" dirty="0"/>
            </a:br>
            <a:r>
              <a:rPr lang="en-US" sz="1800" dirty="0"/>
              <a:t>A virtual replica of vehicles is created to test design changes, monitor performance, and optimize product lifecycle.</a:t>
            </a:r>
          </a:p>
          <a:p>
            <a:endParaRPr lang="en-US" sz="1800" dirty="0"/>
          </a:p>
          <a:p>
            <a:r>
              <a:rPr lang="en-US" sz="1800" b="1" dirty="0"/>
              <a:t>Blockchain for Supply Chain Transparency</a:t>
            </a:r>
            <a:br>
              <a:rPr lang="en-US" sz="1800" dirty="0"/>
            </a:br>
            <a:r>
              <a:rPr lang="en-US" sz="1800" dirty="0"/>
              <a:t>Ensures secure, transparent, and tamper-proof tracking of automotive parts, suppliers, and logistics.</a:t>
            </a:r>
          </a:p>
        </p:txBody>
      </p:sp>
    </p:spTree>
    <p:extLst>
      <p:ext uri="{BB962C8B-B14F-4D97-AF65-F5344CB8AC3E}">
        <p14:creationId xmlns:p14="http://schemas.microsoft.com/office/powerpoint/2010/main" val="3135715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F4651-FAD3-36A6-1CCE-1A570BFE0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80" y="216310"/>
            <a:ext cx="5486040" cy="914040"/>
          </a:xfrm>
        </p:spPr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59206B-6337-2CE0-F74B-7A92FCE429A6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0" y="1051625"/>
            <a:ext cx="783844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PLM (Teamcenter) is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strategic enabler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automotive.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Enhances collaboration, compliance, and efficiency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long-term ROI and competitive advantage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Future-ready with AI, IoT, and digital twin integration</a:t>
            </a:r>
          </a:p>
        </p:txBody>
      </p:sp>
    </p:spTree>
    <p:extLst>
      <p:ext uri="{BB962C8B-B14F-4D97-AF65-F5344CB8AC3E}">
        <p14:creationId xmlns:p14="http://schemas.microsoft.com/office/powerpoint/2010/main" val="2004447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109041" y="2519920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schemas.microsoft.com/office/2006/documentManagement/types"/>
    <ds:schemaRef ds:uri="http://www.w3.org/XML/1998/namespace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34823</TotalTime>
  <Words>933</Words>
  <Application>Microsoft Office PowerPoint</Application>
  <PresentationFormat>On-screen Show (4:3)</PresentationFormat>
  <Paragraphs>90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What PLM Delivers in Automotive Industry</vt:lpstr>
      <vt:lpstr>Implementation Framework</vt:lpstr>
      <vt:lpstr>Integration Technologies</vt:lpstr>
      <vt:lpstr>Performance Improvements</vt:lpstr>
      <vt:lpstr>Future Scope</vt:lpstr>
      <vt:lpstr>Conclusion 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Aryan Singh</cp:lastModifiedBy>
  <cp:revision>2300</cp:revision>
  <dcterms:created xsi:type="dcterms:W3CDTF">2010-04-09T07:36:15Z</dcterms:created>
  <dcterms:modified xsi:type="dcterms:W3CDTF">2026-05-15T11:42:05Z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